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nva Sans" charset="1" panose="020B0503030501040103"/>
      <p:regular r:id="rId17"/>
    </p:embeddedFont>
    <p:embeddedFont>
      <p:font typeface="Le Petit Cochon" charset="1" panose="00000500000000000000"/>
      <p:regular r:id="rId18"/>
    </p:embeddedFont>
    <p:embeddedFont>
      <p:font typeface="Jua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757460" y="-2749670"/>
            <a:ext cx="7514921" cy="6897999"/>
          </a:xfrm>
          <a:custGeom>
            <a:avLst/>
            <a:gdLst/>
            <a:ahLst/>
            <a:cxnLst/>
            <a:rect r="r" b="b" t="t" l="l"/>
            <a:pathLst>
              <a:path h="6897999" w="7514921">
                <a:moveTo>
                  <a:pt x="0" y="0"/>
                </a:moveTo>
                <a:lnTo>
                  <a:pt x="7514920" y="0"/>
                </a:lnTo>
                <a:lnTo>
                  <a:pt x="7514920" y="6897999"/>
                </a:lnTo>
                <a:lnTo>
                  <a:pt x="0" y="6897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8456" y="1028700"/>
            <a:ext cx="4539133" cy="676586"/>
            <a:chOff x="0" y="0"/>
            <a:chExt cx="1195492" cy="178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95492" cy="178196"/>
            </a:xfrm>
            <a:custGeom>
              <a:avLst/>
              <a:gdLst/>
              <a:ahLst/>
              <a:cxnLst/>
              <a:rect r="r" b="b" t="t" l="l"/>
              <a:pathLst>
                <a:path h="178196" w="1195492">
                  <a:moveTo>
                    <a:pt x="13645" y="0"/>
                  </a:moveTo>
                  <a:lnTo>
                    <a:pt x="1181847" y="0"/>
                  </a:lnTo>
                  <a:cubicBezTo>
                    <a:pt x="1185466" y="0"/>
                    <a:pt x="1188937" y="1438"/>
                    <a:pt x="1191495" y="3996"/>
                  </a:cubicBezTo>
                  <a:cubicBezTo>
                    <a:pt x="1194054" y="6555"/>
                    <a:pt x="1195492" y="10026"/>
                    <a:pt x="1195492" y="13645"/>
                  </a:cubicBezTo>
                  <a:lnTo>
                    <a:pt x="1195492" y="164551"/>
                  </a:lnTo>
                  <a:cubicBezTo>
                    <a:pt x="1195492" y="172087"/>
                    <a:pt x="1189383" y="178196"/>
                    <a:pt x="1181847" y="178196"/>
                  </a:cubicBezTo>
                  <a:lnTo>
                    <a:pt x="13645" y="178196"/>
                  </a:lnTo>
                  <a:cubicBezTo>
                    <a:pt x="6109" y="178196"/>
                    <a:pt x="0" y="172087"/>
                    <a:pt x="0" y="164551"/>
                  </a:cubicBezTo>
                  <a:lnTo>
                    <a:pt x="0" y="13645"/>
                  </a:lnTo>
                  <a:cubicBezTo>
                    <a:pt x="0" y="6109"/>
                    <a:pt x="6109" y="0"/>
                    <a:pt x="13645" y="0"/>
                  </a:cubicBezTo>
                  <a:close/>
                </a:path>
              </a:pathLst>
            </a:custGeom>
            <a:solidFill>
              <a:srgbClr val="AD795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95492" cy="2162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500969" y="-2094406"/>
            <a:ext cx="8323236" cy="8229600"/>
          </a:xfrm>
          <a:custGeom>
            <a:avLst/>
            <a:gdLst/>
            <a:ahLst/>
            <a:cxnLst/>
            <a:rect r="r" b="b" t="t" l="l"/>
            <a:pathLst>
              <a:path h="8229600" w="8323236">
                <a:moveTo>
                  <a:pt x="0" y="0"/>
                </a:moveTo>
                <a:lnTo>
                  <a:pt x="8323237" y="0"/>
                </a:lnTo>
                <a:lnTo>
                  <a:pt x="832323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86269" y="3252271"/>
            <a:ext cx="6241783" cy="5765847"/>
          </a:xfrm>
          <a:custGeom>
            <a:avLst/>
            <a:gdLst/>
            <a:ahLst/>
            <a:cxnLst/>
            <a:rect r="r" b="b" t="t" l="l"/>
            <a:pathLst>
              <a:path h="5765847" w="6241783">
                <a:moveTo>
                  <a:pt x="0" y="0"/>
                </a:moveTo>
                <a:lnTo>
                  <a:pt x="6241783" y="0"/>
                </a:lnTo>
                <a:lnTo>
                  <a:pt x="6241783" y="5765847"/>
                </a:lnTo>
                <a:lnTo>
                  <a:pt x="0" y="5765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071549">
            <a:off x="8928888" y="1166706"/>
            <a:ext cx="2622600" cy="2409514"/>
          </a:xfrm>
          <a:custGeom>
            <a:avLst/>
            <a:gdLst/>
            <a:ahLst/>
            <a:cxnLst/>
            <a:rect r="r" b="b" t="t" l="l"/>
            <a:pathLst>
              <a:path h="2409514" w="2622600">
                <a:moveTo>
                  <a:pt x="0" y="0"/>
                </a:moveTo>
                <a:lnTo>
                  <a:pt x="2622600" y="0"/>
                </a:lnTo>
                <a:lnTo>
                  <a:pt x="2622600" y="2409514"/>
                </a:lnTo>
                <a:lnTo>
                  <a:pt x="0" y="24095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78404">
            <a:off x="15697102" y="6522683"/>
            <a:ext cx="4360053" cy="4114800"/>
          </a:xfrm>
          <a:custGeom>
            <a:avLst/>
            <a:gdLst/>
            <a:ahLst/>
            <a:cxnLst/>
            <a:rect r="r" b="b" t="t" l="l"/>
            <a:pathLst>
              <a:path h="4114800" w="4360053">
                <a:moveTo>
                  <a:pt x="0" y="0"/>
                </a:moveTo>
                <a:lnTo>
                  <a:pt x="4360053" y="0"/>
                </a:lnTo>
                <a:lnTo>
                  <a:pt x="43600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38456" y="3499733"/>
            <a:ext cx="9418766" cy="358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15"/>
              </a:lnSpc>
            </a:pPr>
            <a:r>
              <a:rPr lang="en-US" sz="9899" spc="415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STUDENT MESS </a:t>
            </a:r>
          </a:p>
          <a:p>
            <a:pPr algn="l" marL="0" indent="0" lvl="0">
              <a:lnSpc>
                <a:spcPts val="8315"/>
              </a:lnSpc>
              <a:spcBef>
                <a:spcPct val="0"/>
              </a:spcBef>
            </a:pPr>
            <a:r>
              <a:rPr lang="en-US" sz="9899" spc="415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MENU MANAGEMENT SYSTEM USING ORACLE DATABASE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00866"/>
            <a:ext cx="7060412" cy="56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2"/>
              </a:lnSpc>
            </a:pPr>
            <a:r>
              <a:rPr lang="en-US" sz="4099">
                <a:solidFill>
                  <a:srgbClr val="AD795B"/>
                </a:solidFill>
                <a:latin typeface="Jua"/>
                <a:ea typeface="Jua"/>
                <a:cs typeface="Jua"/>
                <a:sym typeface="Jua"/>
              </a:rPr>
              <a:t>Made By: DARSH SONI (24BRS1207)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8470" y="1120740"/>
            <a:ext cx="5039106" cy="46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1"/>
              </a:lnSpc>
            </a:pPr>
            <a:r>
              <a:rPr lang="en-US" sz="3399">
                <a:solidFill>
                  <a:srgbClr val="FDF8E9"/>
                </a:solidFill>
                <a:latin typeface="Jua"/>
                <a:ea typeface="Jua"/>
                <a:cs typeface="Jua"/>
                <a:sym typeface="Jua"/>
              </a:rPr>
              <a:t>Database Systems Project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532178">
            <a:off x="6932601" y="8645589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4422798" y="0"/>
                </a:moveTo>
                <a:lnTo>
                  <a:pt x="0" y="0"/>
                </a:lnTo>
                <a:lnTo>
                  <a:pt x="0" y="4114800"/>
                </a:lnTo>
                <a:lnTo>
                  <a:pt x="4422798" y="4114800"/>
                </a:lnTo>
                <a:lnTo>
                  <a:pt x="442279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641821" y="830492"/>
            <a:ext cx="1949682" cy="792279"/>
          </a:xfrm>
          <a:custGeom>
            <a:avLst/>
            <a:gdLst/>
            <a:ahLst/>
            <a:cxnLst/>
            <a:rect r="r" b="b" t="t" l="l"/>
            <a:pathLst>
              <a:path h="792279" w="1949682">
                <a:moveTo>
                  <a:pt x="0" y="0"/>
                </a:moveTo>
                <a:lnTo>
                  <a:pt x="1949683" y="0"/>
                </a:lnTo>
                <a:lnTo>
                  <a:pt x="1949683" y="792279"/>
                </a:lnTo>
                <a:lnTo>
                  <a:pt x="0" y="792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1422" y="8862160"/>
            <a:ext cx="1949682" cy="792279"/>
          </a:xfrm>
          <a:custGeom>
            <a:avLst/>
            <a:gdLst/>
            <a:ahLst/>
            <a:cxnLst/>
            <a:rect r="r" b="b" t="t" l="l"/>
            <a:pathLst>
              <a:path h="792279" w="1949682">
                <a:moveTo>
                  <a:pt x="0" y="0"/>
                </a:moveTo>
                <a:lnTo>
                  <a:pt x="1949682" y="0"/>
                </a:lnTo>
                <a:lnTo>
                  <a:pt x="1949682" y="792280"/>
                </a:lnTo>
                <a:lnTo>
                  <a:pt x="0" y="7922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815782">
            <a:off x="5544599" y="9197204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6" y="0"/>
                </a:lnTo>
                <a:lnTo>
                  <a:pt x="1735496" y="1777350"/>
                </a:lnTo>
                <a:lnTo>
                  <a:pt x="0" y="17773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3337" y="-1187342"/>
            <a:ext cx="3826764" cy="4114800"/>
          </a:xfrm>
          <a:custGeom>
            <a:avLst/>
            <a:gdLst/>
            <a:ahLst/>
            <a:cxnLst/>
            <a:rect r="r" b="b" t="t" l="l"/>
            <a:pathLst>
              <a:path h="4114800" w="3826764">
                <a:moveTo>
                  <a:pt x="0" y="0"/>
                </a:moveTo>
                <a:lnTo>
                  <a:pt x="3826764" y="0"/>
                </a:lnTo>
                <a:lnTo>
                  <a:pt x="3826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86354" y="8140021"/>
            <a:ext cx="7315200" cy="3017520"/>
          </a:xfrm>
          <a:custGeom>
            <a:avLst/>
            <a:gdLst/>
            <a:ahLst/>
            <a:cxnLst/>
            <a:rect r="r" b="b" t="t" l="l"/>
            <a:pathLst>
              <a:path h="3017520" w="7315200">
                <a:moveTo>
                  <a:pt x="0" y="0"/>
                </a:moveTo>
                <a:lnTo>
                  <a:pt x="7315200" y="0"/>
                </a:lnTo>
                <a:lnTo>
                  <a:pt x="7315200" y="3017520"/>
                </a:lnTo>
                <a:lnTo>
                  <a:pt x="0" y="301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9471" y="6145829"/>
            <a:ext cx="1814384" cy="2216042"/>
          </a:xfrm>
          <a:custGeom>
            <a:avLst/>
            <a:gdLst/>
            <a:ahLst/>
            <a:cxnLst/>
            <a:rect r="r" b="b" t="t" l="l"/>
            <a:pathLst>
              <a:path h="2216042" w="1814384">
                <a:moveTo>
                  <a:pt x="0" y="0"/>
                </a:moveTo>
                <a:lnTo>
                  <a:pt x="1814384" y="0"/>
                </a:lnTo>
                <a:lnTo>
                  <a:pt x="1814384" y="2216042"/>
                </a:lnTo>
                <a:lnTo>
                  <a:pt x="0" y="22160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48694" y="1201612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INTRODUCTION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201957" y="2927458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0" y="0"/>
                </a:moveTo>
                <a:lnTo>
                  <a:pt x="4422798" y="0"/>
                </a:lnTo>
                <a:lnTo>
                  <a:pt x="44227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-3054736" y="3152364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4422798" y="0"/>
                </a:moveTo>
                <a:lnTo>
                  <a:pt x="0" y="0"/>
                </a:lnTo>
                <a:lnTo>
                  <a:pt x="0" y="4114800"/>
                </a:lnTo>
                <a:lnTo>
                  <a:pt x="4422798" y="4114800"/>
                </a:lnTo>
                <a:lnTo>
                  <a:pt x="442279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76552" y="2481372"/>
            <a:ext cx="1606114" cy="652665"/>
          </a:xfrm>
          <a:custGeom>
            <a:avLst/>
            <a:gdLst/>
            <a:ahLst/>
            <a:cxnLst/>
            <a:rect r="r" b="b" t="t" l="l"/>
            <a:pathLst>
              <a:path h="652665" w="1606114">
                <a:moveTo>
                  <a:pt x="0" y="0"/>
                </a:moveTo>
                <a:lnTo>
                  <a:pt x="1606114" y="0"/>
                </a:lnTo>
                <a:lnTo>
                  <a:pt x="1606114" y="652666"/>
                </a:lnTo>
                <a:lnTo>
                  <a:pt x="0" y="6526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50030" y="6612702"/>
            <a:ext cx="1610534" cy="654462"/>
          </a:xfrm>
          <a:custGeom>
            <a:avLst/>
            <a:gdLst/>
            <a:ahLst/>
            <a:cxnLst/>
            <a:rect r="r" b="b" t="t" l="l"/>
            <a:pathLst>
              <a:path h="654462" w="1610534">
                <a:moveTo>
                  <a:pt x="0" y="0"/>
                </a:moveTo>
                <a:lnTo>
                  <a:pt x="1610534" y="0"/>
                </a:lnTo>
                <a:lnTo>
                  <a:pt x="1610534" y="654462"/>
                </a:lnTo>
                <a:lnTo>
                  <a:pt x="0" y="654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815782">
            <a:off x="13866265" y="-823496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7" y="0"/>
                </a:lnTo>
                <a:lnTo>
                  <a:pt x="1735497" y="1777349"/>
                </a:lnTo>
                <a:lnTo>
                  <a:pt x="0" y="17773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15782">
            <a:off x="1552655" y="9064832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6" y="0"/>
                </a:lnTo>
                <a:lnTo>
                  <a:pt x="1735496" y="1777350"/>
                </a:lnTo>
                <a:lnTo>
                  <a:pt x="0" y="1777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75175" y="2359217"/>
            <a:ext cx="10218670" cy="612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119"/>
              </a:lnSpc>
              <a:buFont typeface="Arial"/>
              <a:buChar char="•"/>
            </a:pPr>
            <a:r>
              <a:rPr lang="en-US" sz="3999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Hostel mess management at VIT Chennai involves complex monthly timetables</a:t>
            </a:r>
          </a:p>
          <a:p>
            <a:pPr algn="l">
              <a:lnSpc>
                <a:spcPts val="4119"/>
              </a:lnSpc>
            </a:pPr>
          </a:p>
          <a:p>
            <a:pPr algn="l" marL="863599" indent="-431800" lvl="1">
              <a:lnSpc>
                <a:spcPts val="4119"/>
              </a:lnSpc>
              <a:buFont typeface="Arial"/>
              <a:buChar char="•"/>
            </a:pPr>
            <a:r>
              <a:rPr lang="en-US" sz="3999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Students find it hard to understand daily menu items</a:t>
            </a:r>
          </a:p>
          <a:p>
            <a:pPr algn="l">
              <a:lnSpc>
                <a:spcPts val="4119"/>
              </a:lnSpc>
            </a:pPr>
          </a:p>
          <a:p>
            <a:pPr algn="l" marL="863599" indent="-431800" lvl="1">
              <a:lnSpc>
                <a:spcPts val="4119"/>
              </a:lnSpc>
              <a:buFont typeface="Arial"/>
              <a:buChar char="•"/>
            </a:pPr>
            <a:r>
              <a:rPr lang="en-US" sz="3999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Messes operate across multiple blocks and multiple mess types</a:t>
            </a:r>
          </a:p>
          <a:p>
            <a:pPr algn="l">
              <a:lnSpc>
                <a:spcPts val="4119"/>
              </a:lnSpc>
            </a:pPr>
          </a:p>
          <a:p>
            <a:pPr algn="l" marL="863599" indent="-431800" lvl="1">
              <a:lnSpc>
                <a:spcPts val="4119"/>
              </a:lnSpc>
              <a:buFont typeface="Arial"/>
              <a:buChar char="•"/>
            </a:pPr>
            <a:r>
              <a:rPr lang="en-US" sz="3999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Manual handling leads to confusion, poor planning, and wastage</a:t>
            </a:r>
          </a:p>
          <a:p>
            <a:pPr algn="l">
              <a:lnSpc>
                <a:spcPts val="4119"/>
              </a:lnSpc>
            </a:pPr>
          </a:p>
          <a:p>
            <a:pPr algn="l" marL="863599" indent="-431800" lvl="1">
              <a:lnSpc>
                <a:spcPts val="4119"/>
              </a:lnSpc>
              <a:buFont typeface="Arial"/>
              <a:buChar char="•"/>
            </a:pPr>
            <a:r>
              <a:rPr lang="en-US" sz="3999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This project proposes a database-driven solution using Oracle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345918" y="7200900"/>
            <a:ext cx="3826764" cy="4114800"/>
          </a:xfrm>
          <a:custGeom>
            <a:avLst/>
            <a:gdLst/>
            <a:ahLst/>
            <a:cxnLst/>
            <a:rect r="r" b="b" t="t" l="l"/>
            <a:pathLst>
              <a:path h="4114800" w="3826764">
                <a:moveTo>
                  <a:pt x="0" y="0"/>
                </a:moveTo>
                <a:lnTo>
                  <a:pt x="3826764" y="0"/>
                </a:lnTo>
                <a:lnTo>
                  <a:pt x="3826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48694" y="1201612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PROBLEM STATEMENT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7201957" y="2927458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0" y="0"/>
                </a:moveTo>
                <a:lnTo>
                  <a:pt x="4422798" y="0"/>
                </a:lnTo>
                <a:lnTo>
                  <a:pt x="44227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true" flipV="false" rot="0">
            <a:off x="-3054736" y="3152364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4422798" y="0"/>
                </a:moveTo>
                <a:lnTo>
                  <a:pt x="0" y="0"/>
                </a:lnTo>
                <a:lnTo>
                  <a:pt x="0" y="4114800"/>
                </a:lnTo>
                <a:lnTo>
                  <a:pt x="4422798" y="4114800"/>
                </a:lnTo>
                <a:lnTo>
                  <a:pt x="44227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76552" y="2481372"/>
            <a:ext cx="1606114" cy="652665"/>
          </a:xfrm>
          <a:custGeom>
            <a:avLst/>
            <a:gdLst/>
            <a:ahLst/>
            <a:cxnLst/>
            <a:rect r="r" b="b" t="t" l="l"/>
            <a:pathLst>
              <a:path h="652665" w="1606114">
                <a:moveTo>
                  <a:pt x="0" y="0"/>
                </a:moveTo>
                <a:lnTo>
                  <a:pt x="1606114" y="0"/>
                </a:lnTo>
                <a:lnTo>
                  <a:pt x="1606114" y="652666"/>
                </a:lnTo>
                <a:lnTo>
                  <a:pt x="0" y="6526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50030" y="6612702"/>
            <a:ext cx="1610534" cy="654462"/>
          </a:xfrm>
          <a:custGeom>
            <a:avLst/>
            <a:gdLst/>
            <a:ahLst/>
            <a:cxnLst/>
            <a:rect r="r" b="b" t="t" l="l"/>
            <a:pathLst>
              <a:path h="654462" w="1610534">
                <a:moveTo>
                  <a:pt x="0" y="0"/>
                </a:moveTo>
                <a:lnTo>
                  <a:pt x="1610534" y="0"/>
                </a:lnTo>
                <a:lnTo>
                  <a:pt x="1610534" y="654462"/>
                </a:lnTo>
                <a:lnTo>
                  <a:pt x="0" y="654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815782">
            <a:off x="13866265" y="-823496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7" y="0"/>
                </a:lnTo>
                <a:lnTo>
                  <a:pt x="1735497" y="1777349"/>
                </a:lnTo>
                <a:lnTo>
                  <a:pt x="0" y="17773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815782">
            <a:off x="1552655" y="9064832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6" y="0"/>
                </a:lnTo>
                <a:lnTo>
                  <a:pt x="1735496" y="1777350"/>
                </a:lnTo>
                <a:lnTo>
                  <a:pt x="0" y="17773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4544649"/>
            <a:ext cx="8516564" cy="4790567"/>
          </a:xfrm>
          <a:custGeom>
            <a:avLst/>
            <a:gdLst/>
            <a:ahLst/>
            <a:cxnLst/>
            <a:rect r="r" b="b" t="t" l="l"/>
            <a:pathLst>
              <a:path h="4790567" w="8516564">
                <a:moveTo>
                  <a:pt x="0" y="0"/>
                </a:moveTo>
                <a:lnTo>
                  <a:pt x="8516564" y="0"/>
                </a:lnTo>
                <a:lnTo>
                  <a:pt x="8516564" y="4790568"/>
                </a:lnTo>
                <a:lnTo>
                  <a:pt x="0" y="4790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3929" y="3095938"/>
            <a:ext cx="11279684" cy="5105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Monthly mess menu is displayed in dense tabular format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Students struggle to: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Identify today’s menu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Compare menus across messes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Mess contractors face: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Poor visibility of student preferences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Inefficient food planning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No centralized system to manage: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Blocks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Multiple messes</a:t>
            </a:r>
          </a:p>
          <a:p>
            <a:pPr algn="l" marL="906780" indent="-453390" lvl="1">
              <a:lnSpc>
                <a:spcPts val="4326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Day-wise menu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23795" y="519767"/>
            <a:ext cx="6935599" cy="9247465"/>
          </a:xfrm>
          <a:custGeom>
            <a:avLst/>
            <a:gdLst/>
            <a:ahLst/>
            <a:cxnLst/>
            <a:rect r="r" b="b" t="t" l="l"/>
            <a:pathLst>
              <a:path h="9247465" w="6935599">
                <a:moveTo>
                  <a:pt x="0" y="0"/>
                </a:moveTo>
                <a:lnTo>
                  <a:pt x="6935599" y="0"/>
                </a:lnTo>
                <a:lnTo>
                  <a:pt x="6935599" y="9247466"/>
                </a:lnTo>
                <a:lnTo>
                  <a:pt x="0" y="9247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49012" y="1028700"/>
            <a:ext cx="9924117" cy="7467898"/>
          </a:xfrm>
          <a:custGeom>
            <a:avLst/>
            <a:gdLst/>
            <a:ahLst/>
            <a:cxnLst/>
            <a:rect r="r" b="b" t="t" l="l"/>
            <a:pathLst>
              <a:path h="7467898" w="9924117">
                <a:moveTo>
                  <a:pt x="0" y="0"/>
                </a:moveTo>
                <a:lnTo>
                  <a:pt x="9924116" y="0"/>
                </a:lnTo>
                <a:lnTo>
                  <a:pt x="9924116" y="7467898"/>
                </a:lnTo>
                <a:lnTo>
                  <a:pt x="0" y="7467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12448924" y="1290616"/>
            <a:ext cx="11104127" cy="11907911"/>
          </a:xfrm>
          <a:custGeom>
            <a:avLst/>
            <a:gdLst/>
            <a:ahLst/>
            <a:cxnLst/>
            <a:rect r="r" b="b" t="t" l="l"/>
            <a:pathLst>
              <a:path h="11907911" w="11104127">
                <a:moveTo>
                  <a:pt x="11104127" y="0"/>
                </a:moveTo>
                <a:lnTo>
                  <a:pt x="0" y="0"/>
                </a:lnTo>
                <a:lnTo>
                  <a:pt x="0" y="11907911"/>
                </a:lnTo>
                <a:lnTo>
                  <a:pt x="11104127" y="11907911"/>
                </a:lnTo>
                <a:lnTo>
                  <a:pt x="11104127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3173863" y="-2288878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4422799" y="0"/>
                </a:moveTo>
                <a:lnTo>
                  <a:pt x="0" y="0"/>
                </a:lnTo>
                <a:lnTo>
                  <a:pt x="0" y="4114800"/>
                </a:lnTo>
                <a:lnTo>
                  <a:pt x="4422799" y="4114800"/>
                </a:lnTo>
                <a:lnTo>
                  <a:pt x="442279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145947" y="1031536"/>
            <a:ext cx="8631887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PROPOSAL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9404" y="2132574"/>
            <a:ext cx="11069706" cy="6265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Develop an Oracle-based Smart Mess Menu Management System</a:t>
            </a:r>
          </a:p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Convert monthly mess timetable → simple daily menu</a:t>
            </a:r>
          </a:p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Supports: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Multiple messes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Multiple hostel blocks</a:t>
            </a:r>
          </a:p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Provide: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Clear day-wise menu display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Centralized database management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Easy updates by admin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24415" y="7314731"/>
            <a:ext cx="20178560" cy="4532477"/>
            <a:chOff x="0" y="0"/>
            <a:chExt cx="5314518" cy="11937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1193739"/>
            </a:xfrm>
            <a:custGeom>
              <a:avLst/>
              <a:gdLst/>
              <a:ahLst/>
              <a:cxnLst/>
              <a:rect r="r" b="b" t="t" l="l"/>
              <a:pathLst>
                <a:path h="1193739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1193739"/>
                  </a:lnTo>
                  <a:lnTo>
                    <a:pt x="0" y="1193739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1212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200864"/>
            <a:ext cx="8522809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SCOPE OF PROJECT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974841" y="3038329"/>
            <a:ext cx="1949682" cy="792279"/>
          </a:xfrm>
          <a:custGeom>
            <a:avLst/>
            <a:gdLst/>
            <a:ahLst/>
            <a:cxnLst/>
            <a:rect r="r" b="b" t="t" l="l"/>
            <a:pathLst>
              <a:path h="792279" w="1949682">
                <a:moveTo>
                  <a:pt x="0" y="0"/>
                </a:moveTo>
                <a:lnTo>
                  <a:pt x="1949682" y="0"/>
                </a:lnTo>
                <a:lnTo>
                  <a:pt x="1949682" y="792279"/>
                </a:lnTo>
                <a:lnTo>
                  <a:pt x="0" y="792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24134" y="6787412"/>
            <a:ext cx="1949682" cy="792279"/>
          </a:xfrm>
          <a:custGeom>
            <a:avLst/>
            <a:gdLst/>
            <a:ahLst/>
            <a:cxnLst/>
            <a:rect r="r" b="b" t="t" l="l"/>
            <a:pathLst>
              <a:path h="792279" w="1949682">
                <a:moveTo>
                  <a:pt x="0" y="0"/>
                </a:moveTo>
                <a:lnTo>
                  <a:pt x="1949683" y="0"/>
                </a:lnTo>
                <a:lnTo>
                  <a:pt x="1949683" y="792279"/>
                </a:lnTo>
                <a:lnTo>
                  <a:pt x="0" y="792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815782">
            <a:off x="17443892" y="3187064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7" y="0"/>
                </a:lnTo>
                <a:lnTo>
                  <a:pt x="1735497" y="1777349"/>
                </a:lnTo>
                <a:lnTo>
                  <a:pt x="0" y="1777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17798" y="2539365"/>
            <a:ext cx="12933164" cy="688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APPLICABLE TO VIT CHENNAI HOSTELS</a:t>
            </a:r>
          </a:p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SUPPORTS: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VEG / NON-VEG / SPECIAL MESSES WITH ALL CATERERS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MULTIPLE BLOCKS (BOTH MEN/WOMEN)</a:t>
            </a:r>
          </a:p>
          <a:p>
            <a:pPr algn="l" marL="906780" indent="-453390" lvl="1">
              <a:lnSpc>
                <a:spcPts val="5880"/>
              </a:lnSpc>
              <a:buAutoNum type="arabicPeriod" startAt="1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FOCUS ON: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DAILY MENU MANAGEMENT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DATA ORGANISATION USING ORACLE DATABASE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INTERACTIVE UI WITH THEMES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REPORTS AND ANALYTICS FOR MESS PLANNING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ISSUE REPORT TO STAFF DIRECTLY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SPECIAL REMINDER FOR FEAST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239623">
            <a:off x="12712427" y="4557968"/>
            <a:ext cx="10487542" cy="6043446"/>
          </a:xfrm>
          <a:custGeom>
            <a:avLst/>
            <a:gdLst/>
            <a:ahLst/>
            <a:cxnLst/>
            <a:rect r="r" b="b" t="t" l="l"/>
            <a:pathLst>
              <a:path h="6043446" w="10487542">
                <a:moveTo>
                  <a:pt x="0" y="0"/>
                </a:moveTo>
                <a:lnTo>
                  <a:pt x="10487542" y="0"/>
                </a:lnTo>
                <a:lnTo>
                  <a:pt x="10487542" y="6043446"/>
                </a:lnTo>
                <a:lnTo>
                  <a:pt x="0" y="6043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3337" y="-1187342"/>
            <a:ext cx="3826764" cy="4114800"/>
          </a:xfrm>
          <a:custGeom>
            <a:avLst/>
            <a:gdLst/>
            <a:ahLst/>
            <a:cxnLst/>
            <a:rect r="r" b="b" t="t" l="l"/>
            <a:pathLst>
              <a:path h="4114800" w="3826764">
                <a:moveTo>
                  <a:pt x="0" y="0"/>
                </a:moveTo>
                <a:lnTo>
                  <a:pt x="3826764" y="0"/>
                </a:lnTo>
                <a:lnTo>
                  <a:pt x="3826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786354" y="8140021"/>
            <a:ext cx="7315200" cy="3017520"/>
          </a:xfrm>
          <a:custGeom>
            <a:avLst/>
            <a:gdLst/>
            <a:ahLst/>
            <a:cxnLst/>
            <a:rect r="r" b="b" t="t" l="l"/>
            <a:pathLst>
              <a:path h="3017520" w="7315200">
                <a:moveTo>
                  <a:pt x="0" y="0"/>
                </a:moveTo>
                <a:lnTo>
                  <a:pt x="7315200" y="0"/>
                </a:lnTo>
                <a:lnTo>
                  <a:pt x="7315200" y="3017520"/>
                </a:lnTo>
                <a:lnTo>
                  <a:pt x="0" y="3017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9471" y="6145829"/>
            <a:ext cx="1814384" cy="2216042"/>
          </a:xfrm>
          <a:custGeom>
            <a:avLst/>
            <a:gdLst/>
            <a:ahLst/>
            <a:cxnLst/>
            <a:rect r="r" b="b" t="t" l="l"/>
            <a:pathLst>
              <a:path h="2216042" w="1814384">
                <a:moveTo>
                  <a:pt x="0" y="0"/>
                </a:moveTo>
                <a:lnTo>
                  <a:pt x="1814384" y="0"/>
                </a:lnTo>
                <a:lnTo>
                  <a:pt x="1814384" y="2216042"/>
                </a:lnTo>
                <a:lnTo>
                  <a:pt x="0" y="22160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48694" y="1201612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TECH STACK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201957" y="2927458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0" y="0"/>
                </a:moveTo>
                <a:lnTo>
                  <a:pt x="4422798" y="0"/>
                </a:lnTo>
                <a:lnTo>
                  <a:pt x="442279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true" flipV="false" rot="0">
            <a:off x="-3054736" y="3152364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4422798" y="0"/>
                </a:moveTo>
                <a:lnTo>
                  <a:pt x="0" y="0"/>
                </a:lnTo>
                <a:lnTo>
                  <a:pt x="0" y="4114800"/>
                </a:lnTo>
                <a:lnTo>
                  <a:pt x="4422798" y="4114800"/>
                </a:lnTo>
                <a:lnTo>
                  <a:pt x="442279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76552" y="2481372"/>
            <a:ext cx="1606114" cy="652665"/>
          </a:xfrm>
          <a:custGeom>
            <a:avLst/>
            <a:gdLst/>
            <a:ahLst/>
            <a:cxnLst/>
            <a:rect r="r" b="b" t="t" l="l"/>
            <a:pathLst>
              <a:path h="652665" w="1606114">
                <a:moveTo>
                  <a:pt x="0" y="0"/>
                </a:moveTo>
                <a:lnTo>
                  <a:pt x="1606114" y="0"/>
                </a:lnTo>
                <a:lnTo>
                  <a:pt x="1606114" y="652666"/>
                </a:lnTo>
                <a:lnTo>
                  <a:pt x="0" y="6526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050030" y="6612702"/>
            <a:ext cx="1610534" cy="654462"/>
          </a:xfrm>
          <a:custGeom>
            <a:avLst/>
            <a:gdLst/>
            <a:ahLst/>
            <a:cxnLst/>
            <a:rect r="r" b="b" t="t" l="l"/>
            <a:pathLst>
              <a:path h="654462" w="1610534">
                <a:moveTo>
                  <a:pt x="0" y="0"/>
                </a:moveTo>
                <a:lnTo>
                  <a:pt x="1610534" y="0"/>
                </a:lnTo>
                <a:lnTo>
                  <a:pt x="1610534" y="654462"/>
                </a:lnTo>
                <a:lnTo>
                  <a:pt x="0" y="654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815782">
            <a:off x="13866265" y="-823496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7" y="0"/>
                </a:lnTo>
                <a:lnTo>
                  <a:pt x="1735497" y="1777349"/>
                </a:lnTo>
                <a:lnTo>
                  <a:pt x="0" y="17773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15782">
            <a:off x="1552655" y="9064832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6" y="0"/>
                </a:lnTo>
                <a:lnTo>
                  <a:pt x="1735496" y="1777350"/>
                </a:lnTo>
                <a:lnTo>
                  <a:pt x="0" y="17773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75675" y="2502366"/>
            <a:ext cx="10218670" cy="4920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777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Databa</a:t>
            </a: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se: Oracle DB</a:t>
            </a:r>
          </a:p>
          <a:p>
            <a:pPr algn="l" marL="906780" indent="-453390" lvl="1">
              <a:lnSpc>
                <a:spcPts val="777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Languages: SQL</a:t>
            </a:r>
          </a:p>
          <a:p>
            <a:pPr algn="l" marL="906780" indent="-453390" lvl="1">
              <a:lnSpc>
                <a:spcPts val="777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Tools: Oracle SQL Developer</a:t>
            </a:r>
          </a:p>
          <a:p>
            <a:pPr algn="l" marL="906780" indent="-453390" lvl="1">
              <a:lnSpc>
                <a:spcPts val="777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Design: ER Diagram, Relational Schema</a:t>
            </a:r>
          </a:p>
          <a:p>
            <a:pPr algn="l" marL="906780" indent="-453390" lvl="1">
              <a:lnSpc>
                <a:spcPts val="777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Frontend: Mobile / Web app to display daily menus</a:t>
            </a:r>
          </a:p>
          <a:p>
            <a:pPr algn="l" marL="906780" indent="-453390" lvl="1">
              <a:lnSpc>
                <a:spcPts val="7770"/>
              </a:lnSpc>
              <a:buFont typeface="Arial"/>
              <a:buChar char="•"/>
            </a:pPr>
            <a:r>
              <a:rPr lang="en-US" sz="4200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React based frontend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9014" y="8314749"/>
            <a:ext cx="515712" cy="448669"/>
          </a:xfrm>
          <a:custGeom>
            <a:avLst/>
            <a:gdLst/>
            <a:ahLst/>
            <a:cxnLst/>
            <a:rect r="r" b="b" t="t" l="l"/>
            <a:pathLst>
              <a:path h="448669" w="515712">
                <a:moveTo>
                  <a:pt x="0" y="0"/>
                </a:moveTo>
                <a:lnTo>
                  <a:pt x="515712" y="0"/>
                </a:lnTo>
                <a:lnTo>
                  <a:pt x="515712" y="448669"/>
                </a:lnTo>
                <a:lnTo>
                  <a:pt x="0" y="448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9014" y="1028700"/>
            <a:ext cx="16824334" cy="8872052"/>
          </a:xfrm>
          <a:custGeom>
            <a:avLst/>
            <a:gdLst/>
            <a:ahLst/>
            <a:cxnLst/>
            <a:rect r="r" b="b" t="t" l="l"/>
            <a:pathLst>
              <a:path h="8872052" w="16824334">
                <a:moveTo>
                  <a:pt x="0" y="0"/>
                </a:moveTo>
                <a:lnTo>
                  <a:pt x="16824334" y="0"/>
                </a:lnTo>
                <a:lnTo>
                  <a:pt x="16824334" y="8872052"/>
                </a:lnTo>
                <a:lnTo>
                  <a:pt x="0" y="8872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330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3174950" y="276225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638477"/>
            <a:ext cx="5534471" cy="8648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BLOCK table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CREATE TABLE block (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block_id     VARCHAR2(20) PRIMARY KEY,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block_name   VARCHAR2(50) NOT NULL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);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ADMIN table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CREATE TABLE admin (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admin_id     VARCHAR2(20) PRIMARY KEY,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admin_name   VARCHAR2(50) NOT NULL,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role         VARCHAR2(30)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);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MESS table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CREATE TABLE mess (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mess_id        VARCHAR2(20) PRIMARY KEY,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mess_name      VARCHAR2(50) NOT NULL,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catering_name  VARCHAR2(50),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block_id      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admin_id      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CONSTRAINT fk_mess_block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    FOREIGN KEY (block_id)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    REFERENCES block(block_id),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CONSTRAINT fk_mess_admin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    FOREIGN KEY (admin_id)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       REFERENCES admin(admin_id)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);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861611" y="1638477"/>
            <a:ext cx="5792837" cy="8362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STUDENT table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CREATE TABLE student (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registration_no VARCHAR2(20) PRIMARY KEY,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student_name VARCHAR2(50) NOT NULL,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block_id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mess_id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CONSTRAINT fk_student_block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FOREIGN KEY (block_id)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REFERENCES block(block_id),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CONSTRAINT fk_student_mess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FOREIGN KEY (mess_id)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REFERENCES mess(mess_id)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);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MENU table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CREATE TABLE menu (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menu_id VARCHAR2(20) PRIMARY KEY,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mess_id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menu_month DATE,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day_name VARCHAR2(15),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admin_id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CONSTRAINT fk_menu_mess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FOREIGN KEY (mess_id)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REFERENCES mess(mess_id),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CONSTRAINT fk_menu_admin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FOREIGN KEY (admin_id)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REFERENCES admin(admin_id)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);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949723" y="1638477"/>
            <a:ext cx="4772620" cy="2933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MEAL table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CREATE TABLE meal (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meal_id VARCHAR2(20) PRIMARY KEY,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menu_id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meal_type VARCHAR2(20),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meal_items VARCHAR2(200),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CONSTRAINT fk_meal_menu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FOREIGN KEY (menu_id)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 REFERENCES menu(menu_id)</a:t>
            </a:r>
          </a:p>
          <a:p>
            <a:pPr algn="ctr">
              <a:lnSpc>
                <a:spcPts val="2718"/>
              </a:lnSpc>
              <a:spcBef>
                <a:spcPct val="0"/>
              </a:spcBef>
            </a:pPr>
            <a:r>
              <a:rPr lang="en-US" sz="2638">
                <a:solidFill>
                  <a:srgbClr val="344A3C"/>
                </a:solidFill>
                <a:latin typeface="Jua"/>
                <a:ea typeface="Jua"/>
                <a:cs typeface="Jua"/>
                <a:sym typeface="Jua"/>
              </a:rPr>
              <a:t>);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795577" y="769619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TABLE CODE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185405">
            <a:off x="14412164" y="7413710"/>
            <a:ext cx="4482149" cy="2754484"/>
          </a:xfrm>
          <a:custGeom>
            <a:avLst/>
            <a:gdLst/>
            <a:ahLst/>
            <a:cxnLst/>
            <a:rect r="r" b="b" t="t" l="l"/>
            <a:pathLst>
              <a:path h="2754484" w="4482149">
                <a:moveTo>
                  <a:pt x="0" y="0"/>
                </a:moveTo>
                <a:lnTo>
                  <a:pt x="4482149" y="0"/>
                </a:lnTo>
                <a:lnTo>
                  <a:pt x="4482149" y="2754485"/>
                </a:lnTo>
                <a:lnTo>
                  <a:pt x="0" y="27544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15782">
            <a:off x="6526766" y="-298909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7" y="0"/>
                </a:lnTo>
                <a:lnTo>
                  <a:pt x="1735497" y="1777350"/>
                </a:lnTo>
                <a:lnTo>
                  <a:pt x="0" y="1777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68662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9572" y="8770819"/>
            <a:ext cx="2286733" cy="2458853"/>
          </a:xfrm>
          <a:custGeom>
            <a:avLst/>
            <a:gdLst/>
            <a:ahLst/>
            <a:cxnLst/>
            <a:rect r="r" b="b" t="t" l="l"/>
            <a:pathLst>
              <a:path h="2458853" w="2286733">
                <a:moveTo>
                  <a:pt x="0" y="0"/>
                </a:moveTo>
                <a:lnTo>
                  <a:pt x="2286733" y="0"/>
                </a:lnTo>
                <a:lnTo>
                  <a:pt x="2286733" y="2458853"/>
                </a:lnTo>
                <a:lnTo>
                  <a:pt x="0" y="24588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04780">
            <a:off x="8374876" y="-3007660"/>
            <a:ext cx="4422798" cy="4114800"/>
          </a:xfrm>
          <a:custGeom>
            <a:avLst/>
            <a:gdLst/>
            <a:ahLst/>
            <a:cxnLst/>
            <a:rect r="r" b="b" t="t" l="l"/>
            <a:pathLst>
              <a:path h="4114800" w="4422798">
                <a:moveTo>
                  <a:pt x="4422798" y="0"/>
                </a:moveTo>
                <a:lnTo>
                  <a:pt x="0" y="0"/>
                </a:lnTo>
                <a:lnTo>
                  <a:pt x="0" y="4114800"/>
                </a:lnTo>
                <a:lnTo>
                  <a:pt x="4422798" y="4114800"/>
                </a:lnTo>
                <a:lnTo>
                  <a:pt x="442279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-815782">
            <a:off x="9718527" y="8949906"/>
            <a:ext cx="1735497" cy="1777349"/>
          </a:xfrm>
          <a:custGeom>
            <a:avLst/>
            <a:gdLst/>
            <a:ahLst/>
            <a:cxnLst/>
            <a:rect r="r" b="b" t="t" l="l"/>
            <a:pathLst>
              <a:path h="1777349" w="1735497">
                <a:moveTo>
                  <a:pt x="0" y="0"/>
                </a:moveTo>
                <a:lnTo>
                  <a:pt x="1735496" y="0"/>
                </a:lnTo>
                <a:lnTo>
                  <a:pt x="1735496" y="1777349"/>
                </a:lnTo>
                <a:lnTo>
                  <a:pt x="0" y="1777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275399"/>
            <a:ext cx="8797230" cy="241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Students can easily view daily menus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Reduces confusion from monthly timetables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Centralized Oracle DB for mess management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Better planning for mess contractors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683997" y="1304925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ADVANTAGES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283952"/>
            <a:ext cx="10181630" cy="2412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Mobil</a:t>
            </a: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e application with push notifications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Feedback system for meals</a:t>
            </a:r>
          </a:p>
          <a:p>
            <a:pPr algn="l" marL="863599" indent="-431800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3C5949"/>
                </a:solidFill>
                <a:latin typeface="Jua"/>
                <a:ea typeface="Jua"/>
                <a:cs typeface="Jua"/>
                <a:sym typeface="Jua"/>
              </a:rPr>
              <a:t>Direct menu pic to database update system using AI </a:t>
            </a:r>
          </a:p>
          <a:p>
            <a:pPr algn="l">
              <a:lnSpc>
                <a:spcPts val="55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-1054925" y="5313477"/>
            <a:ext cx="13672632" cy="794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  <a:spcBef>
                <a:spcPct val="0"/>
              </a:spcBef>
            </a:pPr>
            <a:r>
              <a:rPr lang="en-US" sz="8000" spc="336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FUTURE ENHANCEMENTS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796985" y="-457799"/>
            <a:ext cx="4924630" cy="6072975"/>
          </a:xfrm>
          <a:custGeom>
            <a:avLst/>
            <a:gdLst/>
            <a:ahLst/>
            <a:cxnLst/>
            <a:rect r="r" b="b" t="t" l="l"/>
            <a:pathLst>
              <a:path h="6072975" w="4924630">
                <a:moveTo>
                  <a:pt x="0" y="0"/>
                </a:moveTo>
                <a:lnTo>
                  <a:pt x="4924630" y="0"/>
                </a:lnTo>
                <a:lnTo>
                  <a:pt x="4924630" y="6072974"/>
                </a:lnTo>
                <a:lnTo>
                  <a:pt x="0" y="60729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796985" y="7715431"/>
            <a:ext cx="5233450" cy="4114800"/>
          </a:xfrm>
          <a:custGeom>
            <a:avLst/>
            <a:gdLst/>
            <a:ahLst/>
            <a:cxnLst/>
            <a:rect r="r" b="b" t="t" l="l"/>
            <a:pathLst>
              <a:path h="4114800" w="5233450">
                <a:moveTo>
                  <a:pt x="0" y="0"/>
                </a:moveTo>
                <a:lnTo>
                  <a:pt x="5233450" y="0"/>
                </a:lnTo>
                <a:lnTo>
                  <a:pt x="5233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95770">
            <a:off x="-804270" y="9166182"/>
            <a:ext cx="20178560" cy="3086100"/>
            <a:chOff x="0" y="0"/>
            <a:chExt cx="5314518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4518" cy="812800"/>
            </a:xfrm>
            <a:custGeom>
              <a:avLst/>
              <a:gdLst/>
              <a:ahLst/>
              <a:cxnLst/>
              <a:rect r="r" b="b" t="t" l="l"/>
              <a:pathLst>
                <a:path h="812800" w="5314518">
                  <a:moveTo>
                    <a:pt x="0" y="0"/>
                  </a:moveTo>
                  <a:lnTo>
                    <a:pt x="5314518" y="0"/>
                  </a:lnTo>
                  <a:lnTo>
                    <a:pt x="531451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6EE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314518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1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813767" y="-1289411"/>
            <a:ext cx="7514921" cy="6897999"/>
          </a:xfrm>
          <a:custGeom>
            <a:avLst/>
            <a:gdLst/>
            <a:ahLst/>
            <a:cxnLst/>
            <a:rect r="r" b="b" t="t" l="l"/>
            <a:pathLst>
              <a:path h="6897999" w="7514921">
                <a:moveTo>
                  <a:pt x="0" y="0"/>
                </a:moveTo>
                <a:lnTo>
                  <a:pt x="7514921" y="0"/>
                </a:lnTo>
                <a:lnTo>
                  <a:pt x="7514921" y="6897999"/>
                </a:lnTo>
                <a:lnTo>
                  <a:pt x="0" y="68979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23433" y="8910998"/>
            <a:ext cx="1949682" cy="792279"/>
          </a:xfrm>
          <a:custGeom>
            <a:avLst/>
            <a:gdLst/>
            <a:ahLst/>
            <a:cxnLst/>
            <a:rect r="r" b="b" t="t" l="l"/>
            <a:pathLst>
              <a:path h="792279" w="1949682">
                <a:moveTo>
                  <a:pt x="0" y="0"/>
                </a:moveTo>
                <a:lnTo>
                  <a:pt x="1949682" y="0"/>
                </a:lnTo>
                <a:lnTo>
                  <a:pt x="1949682" y="792279"/>
                </a:lnTo>
                <a:lnTo>
                  <a:pt x="0" y="792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51334" y="2488582"/>
            <a:ext cx="1892878" cy="1938526"/>
          </a:xfrm>
          <a:custGeom>
            <a:avLst/>
            <a:gdLst/>
            <a:ahLst/>
            <a:cxnLst/>
            <a:rect r="r" b="b" t="t" l="l"/>
            <a:pathLst>
              <a:path h="1938526" w="1892878">
                <a:moveTo>
                  <a:pt x="0" y="0"/>
                </a:moveTo>
                <a:lnTo>
                  <a:pt x="1892878" y="0"/>
                </a:lnTo>
                <a:lnTo>
                  <a:pt x="1892878" y="1938526"/>
                </a:lnTo>
                <a:lnTo>
                  <a:pt x="0" y="19385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044181" y="229232"/>
            <a:ext cx="7607519" cy="10106607"/>
          </a:xfrm>
          <a:custGeom>
            <a:avLst/>
            <a:gdLst/>
            <a:ahLst/>
            <a:cxnLst/>
            <a:rect r="r" b="b" t="t" l="l"/>
            <a:pathLst>
              <a:path h="10106607" w="7607519">
                <a:moveTo>
                  <a:pt x="0" y="0"/>
                </a:moveTo>
                <a:lnTo>
                  <a:pt x="7607518" y="0"/>
                </a:lnTo>
                <a:lnTo>
                  <a:pt x="7607518" y="10106607"/>
                </a:lnTo>
                <a:lnTo>
                  <a:pt x="0" y="101066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448694" y="4010295"/>
            <a:ext cx="13672632" cy="15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439"/>
              </a:lnSpc>
              <a:spcBef>
                <a:spcPct val="0"/>
              </a:spcBef>
            </a:pPr>
            <a:r>
              <a:rPr lang="en-US" sz="15999" spc="671">
                <a:solidFill>
                  <a:srgbClr val="68902B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THANKYOU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23242" y="6949900"/>
            <a:ext cx="13672632" cy="52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27"/>
              </a:lnSpc>
              <a:spcBef>
                <a:spcPct val="0"/>
              </a:spcBef>
            </a:pPr>
            <a:r>
              <a:rPr lang="en-US" sz="4199" spc="176">
                <a:solidFill>
                  <a:srgbClr val="68902B"/>
                </a:solidFill>
                <a:latin typeface="Jua"/>
                <a:ea typeface="Jua"/>
                <a:cs typeface="Jua"/>
                <a:sym typeface="Jua"/>
              </a:rPr>
              <a:t>MADE BY: DARSH SONI (24BRS1207)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DAG--WN8bMg</dc:identifier>
  <dcterms:modified xsi:type="dcterms:W3CDTF">2011-08-01T06:04:30Z</dcterms:modified>
  <cp:revision>1</cp:revision>
  <dc:title>Green and Cream Illustration Let’s Learn About Food Presentation</dc:title>
</cp:coreProperties>
</file>